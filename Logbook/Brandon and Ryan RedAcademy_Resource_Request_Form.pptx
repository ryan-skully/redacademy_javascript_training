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38EAE-DDAF-4632-B2A3-2FC9B6C9DEC4}" v="3" dt="2026-10-21T09:30:21.174"/>
    <p1510:client id="{FBED2733-6F63-4E6E-BA2D-028A864C8D37}" v="26" dt="2026-10-20T14:32:53.6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on De Wet" userId="64e86c99-0742-4528-ac1f-9f560ca20685" providerId="ADAL" clId="{46127EB4-8A30-447A-81F0-8B575D7A9581}"/>
    <pc:docChg chg="custSel addSld delSld modSld">
      <pc:chgData name="Brandon De Wet" userId="64e86c99-0742-4528-ac1f-9f560ca20685" providerId="ADAL" clId="{46127EB4-8A30-447A-81F0-8B575D7A9581}" dt="2026-10-21T09:30:59.621" v="99" actId="1076"/>
      <pc:docMkLst>
        <pc:docMk/>
      </pc:docMkLst>
      <pc:sldChg chg="modAnim">
        <pc:chgData name="Brandon De Wet" userId="64e86c99-0742-4528-ac1f-9f560ca20685" providerId="ADAL" clId="{46127EB4-8A30-447A-81F0-8B575D7A9581}" dt="2026-10-20T14:29:01.194" v="4"/>
        <pc:sldMkLst>
          <pc:docMk/>
          <pc:sldMk cId="0" sldId="257"/>
        </pc:sldMkLst>
      </pc:sldChg>
      <pc:sldChg chg="modAnim">
        <pc:chgData name="Brandon De Wet" userId="64e86c99-0742-4528-ac1f-9f560ca20685" providerId="ADAL" clId="{46127EB4-8A30-447A-81F0-8B575D7A9581}" dt="2026-10-20T14:31:39.129" v="22"/>
        <pc:sldMkLst>
          <pc:docMk/>
          <pc:sldMk cId="0" sldId="258"/>
        </pc:sldMkLst>
      </pc:sldChg>
      <pc:sldChg chg="delSp mod">
        <pc:chgData name="Brandon De Wet" userId="64e86c99-0742-4528-ac1f-9f560ca20685" providerId="ADAL" clId="{46127EB4-8A30-447A-81F0-8B575D7A9581}" dt="2026-10-21T09:28:50.395" v="28" actId="478"/>
        <pc:sldMkLst>
          <pc:docMk/>
          <pc:sldMk cId="0" sldId="262"/>
        </pc:sldMkLst>
        <pc:spChg chg="del">
          <ac:chgData name="Brandon De Wet" userId="64e86c99-0742-4528-ac1f-9f560ca20685" providerId="ADAL" clId="{46127EB4-8A30-447A-81F0-8B575D7A9581}" dt="2026-10-21T09:28:50.395" v="28" actId="478"/>
          <ac:spMkLst>
            <pc:docMk/>
            <pc:sldMk cId="0" sldId="262"/>
            <ac:spMk id="20" creationId="{00000000-0000-0000-0000-000000000000}"/>
          </ac:spMkLst>
        </pc:spChg>
      </pc:sldChg>
      <pc:sldChg chg="addSp delSp modSp mod delAnim modAnim">
        <pc:chgData name="Brandon De Wet" userId="64e86c99-0742-4528-ac1f-9f560ca20685" providerId="ADAL" clId="{46127EB4-8A30-447A-81F0-8B575D7A9581}" dt="2026-10-21T09:30:59.621" v="99" actId="1076"/>
        <pc:sldMkLst>
          <pc:docMk/>
          <pc:sldMk cId="1498211347" sldId="263"/>
        </pc:sldMkLst>
        <pc:spChg chg="add del mod">
          <ac:chgData name="Brandon De Wet" userId="64e86c99-0742-4528-ac1f-9f560ca20685" providerId="ADAL" clId="{46127EB4-8A30-447A-81F0-8B575D7A9581}" dt="2026-10-21T09:30:56.374" v="98" actId="478"/>
          <ac:spMkLst>
            <pc:docMk/>
            <pc:sldMk cId="1498211347" sldId="263"/>
            <ac:spMk id="6" creationId="{B47DA6F1-2055-0AA3-E2E3-384E9ABF4898}"/>
          </ac:spMkLst>
        </pc:spChg>
        <pc:spChg chg="mod">
          <ac:chgData name="Brandon De Wet" userId="64e86c99-0742-4528-ac1f-9f560ca20685" providerId="ADAL" clId="{46127EB4-8A30-447A-81F0-8B575D7A9581}" dt="2026-10-21T09:30:59.621" v="99" actId="1076"/>
          <ac:spMkLst>
            <pc:docMk/>
            <pc:sldMk cId="1498211347" sldId="263"/>
            <ac:spMk id="23" creationId="{FD697CF4-20D5-8EC3-1055-A15524993B54}"/>
          </ac:spMkLst>
        </pc:spChg>
      </pc:sldChg>
      <pc:sldChg chg="add del">
        <pc:chgData name="Brandon De Wet" userId="64e86c99-0742-4528-ac1f-9f560ca20685" providerId="ADAL" clId="{46127EB4-8A30-447A-81F0-8B575D7A9581}" dt="2026-10-21T08:49:54.417" v="27" actId="2696"/>
        <pc:sldMkLst>
          <pc:docMk/>
          <pc:sldMk cId="1509246846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21040" y="457200"/>
            <a:ext cx="3108960" cy="5212080"/>
          </a:xfrm>
          <a:prstGeom prst="round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641080" y="777240"/>
            <a:ext cx="2468880" cy="457200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68580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1">
                <a:solidFill>
                  <a:srgbClr val="E01F26"/>
                </a:solidFill>
                <a:latin typeface="Aptos"/>
              </a:defRPr>
            </a:pPr>
            <a:r>
              <a:t>REDACADEMY  /  PROJECT SHOWCASE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7315200" cy="16459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3800" b="1">
                <a:solidFill>
                  <a:srgbClr val="F5F7FA"/>
                </a:solidFill>
                <a:latin typeface="Aptos"/>
              </a:defRPr>
            </a:pPr>
            <a:r>
              <a:t>Resource</a:t>
            </a:r>
            <a:br>
              <a:rPr/>
            </a:br>
            <a:r>
              <a:t>Request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132320" cy="6400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0">
                <a:solidFill>
                  <a:srgbClr val="B1BED0"/>
                </a:solidFill>
                <a:latin typeface="Aptos"/>
              </a:defRPr>
            </a:pPr>
            <a:r>
              <a:t>A JavaScript-powered ticket management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4864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1">
                <a:solidFill>
                  <a:srgbClr val="F5F7FA"/>
                </a:solidFill>
                <a:latin typeface="Aptos"/>
              </a:defRPr>
            </a:pPr>
            <a:r>
              <a:t>HTML  •  CSS  • 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6766560" cy="935641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0">
                <a:solidFill>
                  <a:srgbClr val="B1BED0"/>
                </a:solidFill>
                <a:latin typeface="Aptos"/>
              </a:defRPr>
            </a:pPr>
            <a:r>
              <a:t>Completed as part of the JavaScript course at</a:t>
            </a:r>
            <a:br>
              <a:rPr/>
            </a:br>
            <a:r>
              <a:t>RedAcademy, part of RedPanda Software.</a:t>
            </a:r>
            <a:endParaRPr lang="en-US"/>
          </a:p>
          <a:p>
            <a:pPr>
              <a:defRPr sz="1400" b="0">
                <a:solidFill>
                  <a:srgbClr val="B1BED0"/>
                </a:solidFill>
                <a:latin typeface="Aptos"/>
              </a:defRPr>
            </a:pPr>
            <a:endParaRPr lang="en-ZA"/>
          </a:p>
          <a:p>
            <a:pPr>
              <a:defRPr sz="1400" b="0">
                <a:solidFill>
                  <a:srgbClr val="B1BED0"/>
                </a:solidFill>
                <a:latin typeface="Aptos"/>
              </a:defRPr>
            </a:pPr>
            <a:r>
              <a:rPr lang="en-ZA"/>
              <a:t>Presented by Brandon De Wet and Ryan Ward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6400800" cy="228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1">
                <a:solidFill>
                  <a:srgbClr val="B1BED0"/>
                </a:solidFill>
                <a:latin typeface="Aptos"/>
              </a:defRPr>
            </a:pPr>
            <a:r>
              <a:t>PROJECT PRESENTATION  |  APPROX. 5 MINUTES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B7200D-1860-9A3D-9F29-7E3F14EA01BE}"/>
              </a:ext>
            </a:extLst>
          </p:cNvPr>
          <p:cNvSpPr/>
          <p:nvPr/>
        </p:nvSpPr>
        <p:spPr>
          <a:xfrm>
            <a:off x="8750300" y="1206500"/>
            <a:ext cx="2266950" cy="367665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AE9C38-DB77-DE7A-551F-9ED2CA8C0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902" y="1830166"/>
            <a:ext cx="1934848" cy="6510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339BF8-2AFB-CF58-EE52-DF54B25CF1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81426" y="2481216"/>
            <a:ext cx="2004698" cy="1824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1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A clearer way to manage resource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B1BED0"/>
                </a:solidFill>
                <a:latin typeface="Aptos"/>
              </a:defRPr>
            </a:pPr>
            <a:r>
              <a:t>A structured form turns support issues into trackable tickets.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83280" cy="256032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54864" cy="2103120"/>
          </a:xfrm>
          <a:prstGeom prst="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31343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34640"/>
            <a:ext cx="2788920" cy="164591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Requester details, company email, department, resource type and issue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383280" cy="256032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286000"/>
            <a:ext cx="54864" cy="2103120"/>
          </a:xfrm>
          <a:prstGeom prst="rect">
            <a:avLst/>
          </a:prstGeom>
          <a:solidFill>
            <a:srgbClr val="6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231343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PRIORITISE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834640"/>
            <a:ext cx="2788920" cy="164591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Classify issues as Low, Medium, High or Critical so urgency is visible.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383280" cy="256032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54864" cy="2103120"/>
          </a:xfrm>
          <a:prstGeom prst="rect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31343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788920" cy="44319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Review ticket history</a:t>
            </a:r>
            <a:r>
              <a:rPr lang="en-US"/>
              <a:t> and summary</a:t>
            </a:r>
            <a:r>
              <a:t>, update priorities and record resolutions.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05840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500" b="1">
                <a:solidFill>
                  <a:srgbClr val="F5F7FA"/>
                </a:solidFill>
                <a:latin typeface="Aptos"/>
              </a:defRPr>
            </a:pPr>
            <a:r>
              <a:t>Built around an internal RedPanda Software support scenario.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02 /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Simple inputs. Useful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B1BED0"/>
                </a:solidFill>
                <a:latin typeface="Aptos"/>
              </a:defRPr>
            </a:pPr>
            <a:r>
              <a:t>HTML provides the form structure; JavaScript adds validation and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2011680"/>
            <a:ext cx="3657600" cy="105156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09559" y="2240280"/>
            <a:ext cx="54864" cy="594359"/>
          </a:xfrm>
          <a:prstGeom prst="rect">
            <a:avLst/>
          </a:prstGeom>
          <a:solidFill>
            <a:srgbClr val="6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0727" y="2267712"/>
            <a:ext cx="306324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2752344"/>
            <a:ext cx="3063240" cy="13715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Required fields and company email format.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337560"/>
            <a:ext cx="3657600" cy="105156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09559" y="3566160"/>
            <a:ext cx="54864" cy="594359"/>
          </a:xfrm>
          <a:prstGeom prst="rect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10727" y="3593591"/>
            <a:ext cx="306324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LIVE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3968497"/>
            <a:ext cx="3063240" cy="13715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The submit button activates when inputs are valid.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4663440"/>
            <a:ext cx="3657600" cy="105156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09559" y="4892040"/>
            <a:ext cx="54864" cy="594359"/>
          </a:xfrm>
          <a:prstGeom prst="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10727" y="4919472"/>
            <a:ext cx="306324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TICKET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7" y="5294377"/>
            <a:ext cx="3063240" cy="13715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Latest request, history and open/resolved counts.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33151A7-E5F1-C240-BAF8-43F81430B6CA}"/>
              </a:ext>
            </a:extLst>
          </p:cNvPr>
          <p:cNvSpPr/>
          <p:nvPr/>
        </p:nvSpPr>
        <p:spPr>
          <a:xfrm>
            <a:off x="658368" y="2011680"/>
            <a:ext cx="6352032" cy="399592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A4648C7-B29D-B944-62A6-2D118A74E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16" y="2103120"/>
            <a:ext cx="3683335" cy="38418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03 / STRUCTURE AND 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HTML builds it. CSS brings it to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B1BED0"/>
                </a:solidFill>
                <a:latin typeface="Aptos"/>
              </a:defRPr>
            </a:pPr>
            <a:r>
              <a:t>A few examples of the structure and styling used in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394960" cy="4206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20824"/>
            <a:ext cx="82296" cy="82296"/>
          </a:xfrm>
          <a:prstGeom prst="ellipse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20824"/>
            <a:ext cx="82296" cy="82296"/>
          </a:xfrm>
          <a:prstGeom prst="ellipse">
            <a:avLst/>
          </a:prstGeom>
          <a:solidFill>
            <a:srgbClr val="FF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2020824"/>
            <a:ext cx="82296" cy="82296"/>
          </a:xfrm>
          <a:prstGeom prst="ellipse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965960"/>
            <a:ext cx="4389120" cy="228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1">
                <a:solidFill>
                  <a:srgbClr val="B1BED0"/>
                </a:solidFill>
                <a:latin typeface="Aptos"/>
              </a:defRPr>
            </a:pPr>
            <a: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13432"/>
            <a:ext cx="4983480" cy="361124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&lt;form id="</a:t>
            </a:r>
            <a:r>
              <a:rPr lang="en-ZA" dirty="0" err="1"/>
              <a:t>requestForm</a:t>
            </a:r>
            <a:r>
              <a:rPr lang="en-ZA" dirty="0"/>
              <a:t>"&gt;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	&lt;div class="form-group"&gt;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&lt;label for="</a:t>
            </a:r>
            <a:r>
              <a:rPr lang="en-ZA" dirty="0" err="1"/>
              <a:t>requesterName</a:t>
            </a:r>
            <a:r>
              <a:rPr lang="en-ZA" dirty="0"/>
              <a:t>"&gt;Request Name&lt;/label&gt;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&lt;input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   type="text"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   id="</a:t>
            </a:r>
            <a:r>
              <a:rPr lang="en-ZA" dirty="0" err="1"/>
              <a:t>requesterName</a:t>
            </a:r>
            <a:r>
              <a:rPr lang="en-ZA" dirty="0"/>
              <a:t>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   </a:t>
            </a:r>
            <a:r>
              <a:rPr lang="en-ZA" dirty="0" err="1"/>
              <a:t>maxlength</a:t>
            </a:r>
            <a:r>
              <a:rPr lang="en-ZA" dirty="0"/>
              <a:t>="30"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   placeholder="Enter your Name:"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   required&gt;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	&lt;/div&gt;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&lt;label for="</a:t>
            </a:r>
            <a:r>
              <a:rPr lang="en-ZA" dirty="0" err="1"/>
              <a:t>emailAddress</a:t>
            </a:r>
            <a:r>
              <a:rPr lang="en-ZA" dirty="0"/>
              <a:t>"&gt;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Email Address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&lt;/label&gt;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&lt;input type="email"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id="</a:t>
            </a:r>
            <a:r>
              <a:rPr lang="en-ZA" dirty="0" err="1"/>
              <a:t>emailAddress</a:t>
            </a:r>
            <a:r>
              <a:rPr lang="en-ZA" dirty="0"/>
              <a:t>" required&gt;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&lt;button id="</a:t>
            </a:r>
            <a:r>
              <a:rPr lang="en-ZA" dirty="0" err="1"/>
              <a:t>requestSend</a:t>
            </a:r>
            <a:r>
              <a:rPr lang="en-ZA" dirty="0"/>
              <a:t>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      type="submit" disabled&gt;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  Submit Request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  &lt;/button&gt;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dirty="0"/>
              <a:t>&lt;/form&gt;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74519"/>
            <a:ext cx="5074920" cy="4206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60" y="2020824"/>
            <a:ext cx="82296" cy="82296"/>
          </a:xfrm>
          <a:prstGeom prst="ellipse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0840" y="2020824"/>
            <a:ext cx="82296" cy="82296"/>
          </a:xfrm>
          <a:prstGeom prst="ellipse">
            <a:avLst/>
          </a:prstGeom>
          <a:solidFill>
            <a:srgbClr val="FF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03720" y="2020824"/>
            <a:ext cx="82296" cy="82296"/>
          </a:xfrm>
          <a:prstGeom prst="ellipse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1965960"/>
            <a:ext cx="4069079" cy="228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1">
                <a:solidFill>
                  <a:srgbClr val="B1BED0"/>
                </a:solidFill>
                <a:latin typeface="Aptos"/>
              </a:defRPr>
            </a:pPr>
            <a:r>
              <a:t>style.css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13432"/>
            <a:ext cx="4663440" cy="361187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.form-container {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width: 750px;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margin: auto;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padding: 30px;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border-radius: 15px;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background: #fff;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button {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background: #ca0707;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color: white;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border-radius: 5px;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button:disabled {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  background-color: grey;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44768"/>
            <a:ext cx="10789920" cy="228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0">
                <a:solidFill>
                  <a:srgbClr val="B1BED0"/>
                </a:solidFill>
                <a:latin typeface="Aptos"/>
              </a:defRPr>
            </a:pPr>
            <a:r>
              <a:t>Key concepts: labelled inputs, required fields, reusable styles and responsive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04 / JAVASCRIPT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The logic behind every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B1BED0"/>
                </a:solidFill>
                <a:latin typeface="Aptos"/>
              </a:defRPr>
            </a:pPr>
            <a:r>
              <a:t>JavaScript validates input, creates objects and refreshes the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400800" cy="4206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020824"/>
            <a:ext cx="82296" cy="82296"/>
          </a:xfrm>
          <a:prstGeom prst="ellipse">
            <a:avLst/>
          </a:prstGeom>
          <a:solidFill>
            <a:srgbClr val="F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020824"/>
            <a:ext cx="82296" cy="82296"/>
          </a:xfrm>
          <a:prstGeom prst="ellipse">
            <a:avLst/>
          </a:prstGeom>
          <a:solidFill>
            <a:srgbClr val="FFC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80160" y="2020824"/>
            <a:ext cx="82296" cy="82296"/>
          </a:xfrm>
          <a:prstGeom prst="ellipse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1965960"/>
            <a:ext cx="5394960" cy="228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900" b="1">
                <a:solidFill>
                  <a:srgbClr val="B1BED0"/>
                </a:solidFill>
                <a:latin typeface="Aptos"/>
              </a:defRPr>
            </a:pPr>
            <a:r>
              <a:t>script.js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13432"/>
            <a:ext cx="3901068" cy="343170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 err="1"/>
              <a:t>form.addEventListener</a:t>
            </a:r>
            <a:r>
              <a:rPr lang="en-ZA"/>
              <a:t>("submit", function(event) {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// Add the below to prevent the page from refreshing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</a:t>
            </a:r>
            <a:r>
              <a:rPr lang="en-ZA" err="1"/>
              <a:t>event.preventDefault</a:t>
            </a:r>
            <a:r>
              <a:rPr lang="en-ZA"/>
              <a:t>();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endParaRPr lang="en-ZA"/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console.log("New ticket submission started.");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endParaRPr lang="en-ZA"/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// Object creation for containing all request data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</a:t>
            </a:r>
            <a:r>
              <a:rPr lang="en-ZA" err="1"/>
              <a:t>const</a:t>
            </a:r>
            <a:r>
              <a:rPr lang="en-ZA"/>
              <a:t> request = {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id: </a:t>
            </a:r>
            <a:r>
              <a:rPr lang="en-ZA" err="1"/>
              <a:t>nextTicketId</a:t>
            </a:r>
            <a:r>
              <a:rPr lang="en-ZA"/>
              <a:t>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requester: </a:t>
            </a:r>
            <a:r>
              <a:rPr lang="en-ZA" err="1"/>
              <a:t>requesterName.value.trim</a:t>
            </a:r>
            <a:r>
              <a:rPr lang="en-ZA"/>
              <a:t>(),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email: </a:t>
            </a:r>
            <a:r>
              <a:rPr lang="en-ZA" err="1"/>
              <a:t>emailAddress.value.trim</a:t>
            </a:r>
            <a:r>
              <a:rPr lang="en-ZA"/>
              <a:t>(),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department: </a:t>
            </a:r>
            <a:r>
              <a:rPr lang="en-ZA" err="1"/>
              <a:t>department.value</a:t>
            </a:r>
            <a:r>
              <a:rPr lang="en-ZA"/>
              <a:t>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resource: </a:t>
            </a:r>
            <a:r>
              <a:rPr lang="en-ZA" err="1"/>
              <a:t>resourceType.value</a:t>
            </a:r>
            <a:r>
              <a:rPr lang="en-ZA"/>
              <a:t>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details: </a:t>
            </a:r>
            <a:r>
              <a:rPr lang="en-ZA" err="1"/>
              <a:t>details.value.trim</a:t>
            </a:r>
            <a:r>
              <a:rPr lang="en-ZA"/>
              <a:t>(),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priority: </a:t>
            </a:r>
            <a:r>
              <a:rPr lang="en-ZA" err="1"/>
              <a:t>priority.value</a:t>
            </a:r>
            <a:r>
              <a:rPr lang="en-ZA"/>
              <a:t>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status: "Open",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</a:t>
            </a:r>
            <a:r>
              <a:rPr lang="en-ZA" err="1"/>
              <a:t>priorityHistory</a:t>
            </a:r>
            <a:r>
              <a:rPr lang="en-ZA"/>
              <a:t>: [],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  </a:t>
            </a:r>
            <a:r>
              <a:rPr lang="en-ZA" err="1"/>
              <a:t>resolutionReason</a:t>
            </a:r>
            <a:r>
              <a:rPr lang="en-ZA"/>
              <a:t>: ""</a:t>
            </a:r>
          </a:p>
          <a:p>
            <a:pPr>
              <a:spcAft>
                <a:spcPts val="200"/>
              </a:spcAft>
              <a:defRPr sz="1000">
                <a:solidFill>
                  <a:srgbClr val="F5F7FA"/>
                </a:solidFill>
                <a:latin typeface="Consolas"/>
              </a:defRPr>
            </a:pPr>
            <a:r>
              <a:rPr lang="en-ZA"/>
              <a:t>  };</a:t>
            </a: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79" y="2011680"/>
            <a:ext cx="3840480" cy="777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80959" y="2240280"/>
            <a:ext cx="54864" cy="320040"/>
          </a:xfrm>
          <a:prstGeom prst="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7" y="2267712"/>
            <a:ext cx="32461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01 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560320"/>
            <a:ext cx="3246120" cy="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Check required fields and email.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2971800"/>
            <a:ext cx="3840480" cy="777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59" y="3200400"/>
            <a:ext cx="54864" cy="320040"/>
          </a:xfrm>
          <a:prstGeom prst="rect">
            <a:avLst/>
          </a:prstGeom>
          <a:solidFill>
            <a:srgbClr val="6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82127" y="3227832"/>
            <a:ext cx="32461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02  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529329"/>
            <a:ext cx="3246120" cy="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Build a ticket object.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3931920"/>
            <a:ext cx="3840480" cy="777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80959" y="4160520"/>
            <a:ext cx="54864" cy="320040"/>
          </a:xfrm>
          <a:prstGeom prst="rect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82127" y="4187952"/>
            <a:ext cx="32461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03 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480560"/>
            <a:ext cx="3246120" cy="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Add it to the requests array.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4892040"/>
            <a:ext cx="3840480" cy="7772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80959" y="5120640"/>
            <a:ext cx="54864" cy="320040"/>
          </a:xfrm>
          <a:prstGeom prst="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82127" y="5148072"/>
            <a:ext cx="32461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04  REFRESH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5440680"/>
            <a:ext cx="3246120" cy="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Update the list and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05 / TICKET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More than a form: a basic ticket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B1BED0"/>
                </a:solidFill>
                <a:latin typeface="Aptos"/>
              </a:defRPr>
            </a:pPr>
            <a:r>
              <a:t>The application supports follow-up actions and enforces simple business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83280" cy="205740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54864" cy="1600200"/>
          </a:xfrm>
          <a:prstGeom prst="rect">
            <a:avLst/>
          </a:prstGeom>
          <a:solidFill>
            <a:srgbClr val="6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31343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CHANGE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834640"/>
            <a:ext cx="2788920" cy="1143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Record the previous and new priority, along with a reason.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383280" cy="205740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286000"/>
            <a:ext cx="54864" cy="1600200"/>
          </a:xfrm>
          <a:prstGeom prst="rect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231343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RESOLVE TICKETS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834640"/>
            <a:ext cx="2788920" cy="1143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Mark tickets resolved and capture a resolution reason.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383280" cy="205740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286000"/>
            <a:ext cx="54864" cy="1600200"/>
          </a:xfrm>
          <a:prstGeom prst="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31343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STATUS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788920" cy="1143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Use array filtering to count open and resolved tickets.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698480" cy="100584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773168"/>
            <a:ext cx="1920240" cy="228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CD55"/>
                </a:solidFill>
                <a:latin typeface="Aptos"/>
              </a:defRPr>
            </a:pPr>
            <a:r>
              <a:t>SECURITY DETAIL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02352"/>
            <a:ext cx="987552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F5F7FA"/>
                </a:solidFill>
                <a:latin typeface="Aptos"/>
              </a:defRPr>
            </a:pPr>
            <a:r>
              <a:rPr err="1"/>
              <a:t>escapeHTML</a:t>
            </a:r>
            <a:r>
              <a:t>() encodes user-entered characters before they are inserted into HTML, reducing markup injection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731520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06 / 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t>From form fields to a working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4572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300" b="0">
                <a:solidFill>
                  <a:srgbClr val="B1BED0"/>
                </a:solidFill>
                <a:latin typeface="Aptos"/>
              </a:defRPr>
            </a:pPr>
            <a:r>
              <a:t>This project connected front-end structure with interactive behaviour.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50876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2240280"/>
            <a:ext cx="54864" cy="1051560"/>
          </a:xfrm>
          <a:prstGeom prst="rect">
            <a:avLst/>
          </a:prstGeom>
          <a:solidFill>
            <a:srgbClr val="E0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26771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88920"/>
            <a:ext cx="2788920" cy="59435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Structure, form fields and labels.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150876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240280"/>
            <a:ext cx="54864" cy="1051560"/>
          </a:xfrm>
          <a:prstGeom prst="rect">
            <a:avLst/>
          </a:prstGeom>
          <a:solidFill>
            <a:srgbClr val="6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226771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88920"/>
            <a:ext cx="2788920" cy="59435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Layout, colour and responsive styling.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383280" cy="1508760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2240280"/>
            <a:ext cx="54864" cy="1051560"/>
          </a:xfrm>
          <a:prstGeom prst="rect">
            <a:avLst/>
          </a:prstGeom>
          <a:solidFill>
            <a:srgbClr val="5FD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2267712"/>
            <a:ext cx="278892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700" b="1">
                <a:solidFill>
                  <a:srgbClr val="F5F7FA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788920"/>
            <a:ext cx="2788920" cy="59435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200" b="0">
                <a:solidFill>
                  <a:srgbClr val="B1BED0"/>
                </a:solidFill>
                <a:latin typeface="Aptos"/>
              </a:defRPr>
            </a:pPr>
            <a:r>
              <a:t>Validation, arrays, objects and events.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310896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100" b="1">
                <a:solidFill>
                  <a:srgbClr val="E01F26"/>
                </a:solidFill>
                <a:latin typeface="Aptos"/>
              </a:defRPr>
            </a:pPr>
            <a:r>
              <a:t>POSSIBLE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5029200" cy="1371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400" b="0">
                <a:solidFill>
                  <a:srgbClr val="F5F7FA"/>
                </a:solidFill>
                <a:latin typeface="Aptos"/>
              </a:defRPr>
            </a:pPr>
            <a:r>
              <a:t>• Persist tickets between sessions</a:t>
            </a:r>
            <a:br/>
            <a:r>
              <a:t>• Connect to a backend or API</a:t>
            </a:r>
            <a:br/>
            <a:r>
              <a:t>• Add search and filtering</a:t>
            </a:r>
            <a:br/>
            <a:r>
              <a:t>• Expand accessibility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B66F1-314B-5BCD-8892-275C507F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7DB76-8F69-3D00-124A-9DF0180F17D7}"/>
              </a:ext>
            </a:extLst>
          </p:cNvPr>
          <p:cNvSpPr txBox="1"/>
          <p:nvPr/>
        </p:nvSpPr>
        <p:spPr>
          <a:xfrm>
            <a:off x="640080" y="347472"/>
            <a:ext cx="7315200" cy="227755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1000" b="1">
                <a:solidFill>
                  <a:srgbClr val="FF6469"/>
                </a:solidFill>
                <a:latin typeface="Aptos"/>
              </a:defRPr>
            </a:pPr>
            <a:r>
              <a:t>0</a:t>
            </a:r>
            <a:r>
              <a:rPr lang="en-US"/>
              <a:t>7</a:t>
            </a:r>
            <a:r>
              <a:t> / WHAT I LEARNED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6B358-8C8C-75B3-2D4D-D298B8DBF11A}"/>
              </a:ext>
            </a:extLst>
          </p:cNvPr>
          <p:cNvSpPr txBox="1"/>
          <p:nvPr/>
        </p:nvSpPr>
        <p:spPr>
          <a:xfrm>
            <a:off x="609600" y="680916"/>
            <a:ext cx="10972800" cy="52014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defRPr sz="2900" b="1">
                <a:solidFill>
                  <a:srgbClr val="F5F7FA"/>
                </a:solidFill>
                <a:latin typeface="Aptos"/>
              </a:defRPr>
            </a:pPr>
            <a:r>
              <a:rPr lang="en-US"/>
              <a:t>That is all Folks !!!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50102-0151-3E7F-8512-B32A2CA7799D}"/>
              </a:ext>
            </a:extLst>
          </p:cNvPr>
          <p:cNvSpPr txBox="1"/>
          <p:nvPr/>
        </p:nvSpPr>
        <p:spPr>
          <a:xfrm>
            <a:off x="658368" y="6510528"/>
            <a:ext cx="7315200" cy="1828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800" b="1">
                <a:solidFill>
                  <a:srgbClr val="B1BED0"/>
                </a:solidFill>
                <a:latin typeface="Aptos"/>
              </a:defRPr>
            </a:pPr>
            <a:r>
              <a:t>REDACADEMY  |  JAVASCRIPT PROJECT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312FAF-7BE3-8E96-1E2A-1FC14EB17D5C}"/>
              </a:ext>
            </a:extLst>
          </p:cNvPr>
          <p:cNvSpPr/>
          <p:nvPr/>
        </p:nvSpPr>
        <p:spPr>
          <a:xfrm>
            <a:off x="457200" y="2011679"/>
            <a:ext cx="10972800" cy="2222213"/>
          </a:xfrm>
          <a:prstGeom prst="roundRect">
            <a:avLst/>
          </a:prstGeom>
          <a:solidFill>
            <a:srgbClr val="1C2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Special thanks to:</a:t>
            </a:r>
          </a:p>
          <a:p>
            <a:pPr marL="342900" indent="-342900" algn="ctr">
              <a:buAutoNum type="arabicPeriod"/>
            </a:pPr>
            <a:r>
              <a:rPr lang="en-US"/>
              <a:t>RedAcademy and RedPanda Software</a:t>
            </a:r>
          </a:p>
          <a:p>
            <a:pPr marL="342900" indent="-342900" algn="ctr">
              <a:buAutoNum type="arabicPeriod"/>
            </a:pPr>
            <a:r>
              <a:rPr lang="en-US"/>
              <a:t>Wizard </a:t>
            </a:r>
            <a:r>
              <a:rPr lang="en-US" err="1"/>
              <a:t>a.k.a</a:t>
            </a:r>
            <a:r>
              <a:rPr lang="en-US"/>
              <a:t> Nazim </a:t>
            </a:r>
            <a:r>
              <a:rPr lang="en-US" err="1"/>
              <a:t>Rafudeen</a:t>
            </a:r>
            <a:endParaRPr lang="en-US"/>
          </a:p>
          <a:p>
            <a:pPr marL="342900" indent="-342900" algn="ctr">
              <a:buAutoNum type="arabicPeriod"/>
            </a:pPr>
            <a:r>
              <a:rPr lang="en-US"/>
              <a:t>Mahomed Goolam</a:t>
            </a:r>
          </a:p>
          <a:p>
            <a:pPr marL="342900" indent="-342900" algn="ctr">
              <a:buAutoNum type="arabicPeriod"/>
            </a:pPr>
            <a:r>
              <a:rPr lang="en-US"/>
              <a:t>Emmanuel Madzunye</a:t>
            </a:r>
          </a:p>
          <a:p>
            <a:pPr marL="342900" indent="-342900" algn="ctr">
              <a:buAutoNum type="arabicPeriod"/>
            </a:pPr>
            <a:r>
              <a:rPr lang="en-US"/>
              <a:t>Nashid Cassiem “Great Hosting 🍴😋”</a:t>
            </a: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697CF4-20D5-8EC3-1055-A15524993B54}"/>
              </a:ext>
            </a:extLst>
          </p:cNvPr>
          <p:cNvSpPr txBox="1"/>
          <p:nvPr/>
        </p:nvSpPr>
        <p:spPr>
          <a:xfrm>
            <a:off x="457200" y="5044513"/>
            <a:ext cx="10972800" cy="52014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"/>
              </a:defRPr>
            </a:pPr>
            <a:r>
              <a:rPr lang="en-US" dirty="0"/>
              <a:t>Demo Time…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821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</Words>
  <Application>Microsoft Office PowerPoint</Application>
  <PresentationFormat>Widescreen</PresentationFormat>
  <Paragraphs>139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Brandon De Wet</cp:lastModifiedBy>
  <cp:revision>1</cp:revision>
  <dcterms:created xsi:type="dcterms:W3CDTF">2013-01-27T09:14:16Z</dcterms:created>
  <dcterms:modified xsi:type="dcterms:W3CDTF">2026-10-21T09:31:05Z</dcterms:modified>
  <cp:category/>
</cp:coreProperties>
</file>